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b8e940763442ff" /><Relationship Type="http://schemas.openxmlformats.org/officeDocument/2006/relationships/extended-properties" Target="/docProps/app.xml" Id="R47fe3da016094cec" /><Relationship Type="http://schemas.openxmlformats.org/officeDocument/2006/relationships/officeDocument" Target="/ppt/presentation.xml" Id="R61ed7a88a1ed4a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c0094eaf14406"/>
  </p:sldMasterIdLst>
  <p:notesMasterIdLst>
    <p:notesMasterId xmlns:r="http://schemas.openxmlformats.org/officeDocument/2006/relationships" r:id="R3ec4a55e7af74f19"/>
  </p:notesMasterIdLst>
  <p:sldIdLst>
    <p:sldId xmlns:r="http://schemas.openxmlformats.org/officeDocument/2006/relationships" id="256" r:id="Rc505668004f54c19"/>
    <p:sldId xmlns:r="http://schemas.openxmlformats.org/officeDocument/2006/relationships" id="257" r:id="R70a632358b3b42a1"/>
    <p:sldId xmlns:r="http://schemas.openxmlformats.org/officeDocument/2006/relationships" id="258" r:id="Ra744921769204da6"/>
    <p:sldId xmlns:r="http://schemas.openxmlformats.org/officeDocument/2006/relationships" id="259" r:id="Rdbe95acf78af4364"/>
    <p:sldId xmlns:r="http://schemas.openxmlformats.org/officeDocument/2006/relationships" id="260" r:id="R05b2225dca454f13"/>
    <p:sldId xmlns:r="http://schemas.openxmlformats.org/officeDocument/2006/relationships" id="261" r:id="R0754f14e4abe4a21"/>
    <p:sldId xmlns:r="http://schemas.openxmlformats.org/officeDocument/2006/relationships" id="262" r:id="R5a6f7d538f4c47b6"/>
    <p:sldId xmlns:r="http://schemas.openxmlformats.org/officeDocument/2006/relationships" id="263" r:id="Raade09c9e22948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e1a81ce29f401b" /><Relationship Type="http://schemas.openxmlformats.org/officeDocument/2006/relationships/slideMaster" Target="/ppt/slideMasters/slideMaster1.xml" Id="R0e1c0094eaf14406" /><Relationship Type="http://schemas.openxmlformats.org/officeDocument/2006/relationships/notesMaster" Target="/ppt/notesMasters/notesMaster1.xml" Id="R3ec4a55e7af74f19" /><Relationship Type="http://schemas.openxmlformats.org/officeDocument/2006/relationships/presProps" Target="/ppt/presProps.xml" Id="R2d38288d7d26436e" /><Relationship Type="http://schemas.openxmlformats.org/officeDocument/2006/relationships/tableStyles" Target="/ppt/tableStyles.xml" Id="R01634b5397524ec0" /><Relationship Type="http://schemas.openxmlformats.org/officeDocument/2006/relationships/slide" Target="/ppt/slides/slide1.xml" Id="Rc505668004f54c19" /><Relationship Type="http://schemas.openxmlformats.org/officeDocument/2006/relationships/slide" Target="/ppt/slides/slide2.xml" Id="R70a632358b3b42a1" /><Relationship Type="http://schemas.openxmlformats.org/officeDocument/2006/relationships/slide" Target="/ppt/slides/slide3.xml" Id="Ra744921769204da6" /><Relationship Type="http://schemas.openxmlformats.org/officeDocument/2006/relationships/slide" Target="/ppt/slides/slide4.xml" Id="Rdbe95acf78af4364" /><Relationship Type="http://schemas.openxmlformats.org/officeDocument/2006/relationships/slide" Target="/ppt/slides/slide5.xml" Id="R05b2225dca454f13" /><Relationship Type="http://schemas.openxmlformats.org/officeDocument/2006/relationships/slide" Target="/ppt/slides/slide6.xml" Id="R0754f14e4abe4a21" /><Relationship Type="http://schemas.openxmlformats.org/officeDocument/2006/relationships/slide" Target="/ppt/slides/slide7.xml" Id="R5a6f7d538f4c47b6" /><Relationship Type="http://schemas.openxmlformats.org/officeDocument/2006/relationships/slide" Target="/ppt/slides/slide8.xml" Id="Raade09c9e22948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268d3cf7a7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bfcb3ffe3d4a64" /><Relationship Type="http://schemas.openxmlformats.org/officeDocument/2006/relationships/notesMaster" Target="/ppt/notesMasters/notesMaster1.xml" Id="R1963889a057a49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fa9c1369154f32" /><Relationship Type="http://schemas.openxmlformats.org/officeDocument/2006/relationships/notesMaster" Target="/ppt/notesMasters/notesMaster1.xml" Id="R31f7231f27c84b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a9933d84d74db3" /><Relationship Type="http://schemas.openxmlformats.org/officeDocument/2006/relationships/notesMaster" Target="/ppt/notesMasters/notesMaster1.xml" Id="R038f284596b24b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1e9576dd514468" /><Relationship Type="http://schemas.openxmlformats.org/officeDocument/2006/relationships/notesMaster" Target="/ppt/notesMasters/notesMaster1.xml" Id="R68f4aada0b6e4f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68f6c3de0149ad" /><Relationship Type="http://schemas.openxmlformats.org/officeDocument/2006/relationships/notesMaster" Target="/ppt/notesMasters/notesMaster1.xml" Id="R14fdcbabaa1246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7c3abb0f60466e" /><Relationship Type="http://schemas.openxmlformats.org/officeDocument/2006/relationships/notesMaster" Target="/ppt/notesMasters/notesMaster1.xml" Id="Rff62b14295a04e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1d188bc0b14f81" /><Relationship Type="http://schemas.openxmlformats.org/officeDocument/2006/relationships/notesMaster" Target="/ppt/notesMasters/notesMaster1.xml" Id="Ra3239c8824bc47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23ecd59a1042d6" /><Relationship Type="http://schemas.openxmlformats.org/officeDocument/2006/relationships/notesMaster" Target="/ppt/notesMasters/notesMaster1.xml" Id="Rbc421202221143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DreamDEX Reclaim repository and public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dreamDEX Event Contracts recipes and gotchas. https://app.dreamdex.io/docs/developers/event-contracts/recipes and https://app.dreamdex.io/docs/developers/event-contracts/gotchas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DreamDEX Reclaim application using the demo address 0xfe7250509634abb94b3cdbd72eb122feccac157c.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DreamDEX Reclaim application. Values reflect changing Shannon testnet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DreamDEX Reclaim SDK feedback report and dreamDEX settlement documentation. https://app.dreamdex.io/docs/trading/event-contracts/settlement-and-voids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DreamDEX Reclaim network scan snapshot captured on 2026-09-11. Figures describe Shannon testnet state and change over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inspected @somnia-chain/markets-sdk v0.30.0 behavior documented in docs/SDK-FEEDBACK.md. The compatibility path is not presented as independent on-chain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URL: https://dream-dex-reclaim.vercel.app/  Repository: https://github.com/sharath2525/DreamDEX-Reclaim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94af3673549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4093266c844f32" /><Relationship Type="http://schemas.openxmlformats.org/officeDocument/2006/relationships/slideLayout" Target="/ppt/slideLayouts/slideLayout1.xml" Id="R0ee192d5252e4c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e192d5252e4c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da22645054804" /><Relationship Type="http://schemas.openxmlformats.org/officeDocument/2006/relationships/image" Target="/ppt/media/image.png" Id="R028f29d12c924ec6" /><Relationship Type="http://schemas.openxmlformats.org/officeDocument/2006/relationships/notesSlide" Target="/ppt/notesSlides/notesSlide1.xml" Id="Rb0a7bda58cf24a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d69020a804b32" /><Relationship Type="http://schemas.openxmlformats.org/officeDocument/2006/relationships/notesSlide" Target="/ppt/notesSlides/notesSlide2.xml" Id="R945df8836c9343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a7c14206c457f" /><Relationship Type="http://schemas.openxmlformats.org/officeDocument/2006/relationships/image" Target="/ppt/media/image2.png" Id="Rf72fe107491f4883" /><Relationship Type="http://schemas.openxmlformats.org/officeDocument/2006/relationships/notesSlide" Target="/ppt/notesSlides/notesSlide3.xml" Id="R1e7f979514274c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06b94610d4c87" /><Relationship Type="http://schemas.openxmlformats.org/officeDocument/2006/relationships/image" Target="/ppt/media/image3.png" Id="R7b4f682885ad422e" /><Relationship Type="http://schemas.openxmlformats.org/officeDocument/2006/relationships/notesSlide" Target="/ppt/notesSlides/notesSlide4.xml" Id="R16f88aff53e749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fe6ae84a7487b" /><Relationship Type="http://schemas.openxmlformats.org/officeDocument/2006/relationships/image" Target="/ppt/media/image4.png" Id="Rcee4391988f940e1" /><Relationship Type="http://schemas.openxmlformats.org/officeDocument/2006/relationships/notesSlide" Target="/ppt/notesSlides/notesSlide5.xml" Id="R49c502d89cd54b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70772e29d4df9" /><Relationship Type="http://schemas.openxmlformats.org/officeDocument/2006/relationships/chart" Target="/ppt/slides/charts/chart1.xml" Id="R808aac460df04af6" /><Relationship Type="http://schemas.openxmlformats.org/officeDocument/2006/relationships/notesSlide" Target="/ppt/notesSlides/notesSlide6.xml" Id="R76b09d5a952f49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c69b833144de0" /><Relationship Type="http://schemas.openxmlformats.org/officeDocument/2006/relationships/notesSlide" Target="/ppt/notesSlides/notesSlide7.xml" Id="R5ee89005612046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bc86622154669" /><Relationship Type="http://schemas.openxmlformats.org/officeDocument/2006/relationships/notesSlide" Target="/ppt/notesSlides/notesSlide8.xml" Id="Racc58fd2ab0d465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Wallets</c:v>
          </c:tx>
          <c:dPt>
            <c:idx val="0"/>
            <c:invertIfNegative val="0"/>
            <c:spPr>
              <a:solidFill xmlns:a="http://schemas.openxmlformats.org/drawingml/2006/main">
                <a:srgbClr val="FFC86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A323F"/>
              </a:solidFill>
            </c:spPr>
          </c:dPt>
          <c:cat>
            <c:strLit>
              <c:ptCount val="2"/>
              <c:pt idx="0">
                <c:v>Wallets with indexed claims</c:v>
              </c:pt>
              <c:pt idx="1">
                <c:v>Other represented wallets</c:v>
              </c:pt>
            </c:strLit>
          </c:cat>
          <c:val>
            <c:numLit>
              <c:formatCode>General</c:formatCode>
              <c:ptCount val="2"/>
              <c:pt idx="0">
                <c:v>6912</c:v>
              </c:pt>
              <c:pt idx="1">
                <c:v>1169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E8ECF2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090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90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f29d12c924ec6"/>
          <a:stretch xmlns:a="http://schemas.openxmlformats.org/drawingml/2006/main"/>
        </p:blipFill>
        <p:spPr>
          <a:xfrm xmlns:a="http://schemas.openxmlformats.org/drawingml/2006/main">
            <a:off x="876300" y="952500"/>
            <a:ext cx="1123950" cy="1123950"/>
          </a:xfrm>
          <a:prstGeom xmlns:a="http://schemas.openxmlformats.org/drawingml/2006/main" prst="roundRect">
            <a:avLst>
              <a:gd name="adj" fmla="val 2372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224F2-DFC6-4698-8E95-3937A12C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389F6-04E2-4C8D-9509-DE6F4E8B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C861"/>
                </a:solidFill>
                <a:latin typeface="Aptos"/>
                <a:ea typeface="Aptos"/>
                <a:cs typeface="Aptos"/>
              </a:rPr>
              <a:t>Settlement recovery and oracle auditing for DreamDEX Event Contracts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1F6E1-70BA-4916-ACF7-A667511D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Somnia × DreamDEX Event Contracts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B6052-607B-47DD-B9DD-B663DD91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Read-only public demo on Somnia Shannon testnet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C1772-BA9B-4C43-949D-825194C5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6011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1CAF1-2FC1-4F28-A217-3569A937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Winning positions can disappear from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C834B-D669-4C9E-8A47-FCD60873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live-market experience ends before every holder completes the settlement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6ABFA-FD4F-47B1-A85F-FD9D2664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02B48-526E-4087-A618-903D70E3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9F4F8-4B73-4663-A78D-DDBEE215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90875"/>
            <a:ext cx="7524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A323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0070D-8E75-436B-9953-6E7A8929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857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6EA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0B510-BF9F-49E1-8420-5CEE6411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D6B3B-E771-4173-804A-C202CBDA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86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Market trades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609C4-5A55-41C9-95C8-3F187FA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position appears in the live Event Contract 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85795-D783-4F3B-945A-F9EA467B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2857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FFC86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85262-039C-41AA-B085-14B842FA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0032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E19A8-D43F-459E-90CD-BDD74F1B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86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Market finalizes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13467-C9A5-4A37-8425-D3A99450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671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finalized binary leaves normal live discovery.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74021-A5C8-461A-A33A-95BF4B96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857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3DDC9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362F3-B32E-4487-872E-13AA19D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032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BD8FF-13D7-4DF4-AF85-4D3EED54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86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Winning tokens remain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C64E3-B4FE-4DC2-9282-9B9FBD6D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A holder can still have redeemable outcome tokens.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8BB1E-2CF4-4307-A048-0A988EE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86375"/>
            <a:ext cx="902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The missing product surface: post-settlement discovery and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879171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0E892-EC2D-4DEB-B931-6A3CCF6D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One address opens the recovery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AE29A-49AE-409A-9CF9-ABE93F1F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No wallet connection, authentication, or signature is required for discovery.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26E55-BDCB-490C-B307-ECF5827D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87ACD-4991-4355-A05C-42C4A24D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fe107491f4883"/>
          <a:srcRect xmlns:a="http://schemas.openxmlformats.org/drawingml/2006/main" l="0" t="4146" r="0" b="41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781050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D16D5-1043-4427-A0DF-900535C6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Address lookup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BF194-084C-44E9-8DA2-E257CF4D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57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Scan any Somnia address and classify its indexed outcome-token positions.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5D7B4-7BEB-4FFB-80EB-95EC0F01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Immediate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6CF26-053E-4D60-9590-024BBD34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814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first screen shows a dated network snapshot while live scans run independently.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D1600-36DA-42AE-906C-59D5D4D8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Share or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BC960-32E9-4CFE-B9FA-FED6A11F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959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Create a direct wallet URL or download a structured recovery report.</a:t>
            </a:r>
          </a:p>
        </p:txBody>
      </p:sp>
    </p:spTree>
    <p:extLst>
      <p:ext uri="{BB962C8B-B14F-4D97-AF65-F5344CB8AC3E}">
        <p14:creationId xmlns:p14="http://schemas.microsoft.com/office/powerpoint/2010/main" val="1667255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97260-DED4-4E17-B012-55D42963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The wallet view separates every settlement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F35C7-865E-44B4-90A8-DF419A7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A non-zero outcome-token balance does not automatically mean a winning claim.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5FC75-5BFF-4D35-9C46-E6D0F7AB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5D258-375C-4C95-B291-0CCF0D95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65C95-A49A-4864-ACE5-20D8A9E5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UNCLAIMED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FE212-0468-4342-8A2A-81BF3CA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Finalized positions with a non-zero payout, ranked by estimated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0FF9C-C69C-43C6-B272-F65D9624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LIVE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4B331-0BD1-4971-B06C-57A0199A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Positions in markets that remain open for trading.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710CF-91D4-47BD-BB26-FB6C1D48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REDEMPTION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8E944-42D9-456B-A90E-73DB7B47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Completed collections stay separate from balances that may still need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0056F-E527-48AB-A737-62488F5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7172325" cy="423862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9525">
            <a:solidFill>
              <a:srgbClr val="2A323F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f682885ad422e"/>
          <a:stretch xmlns:a="http://schemas.openxmlformats.org/drawingml/2006/main"/>
        </p:blipFill>
        <p:spPr>
          <a:xfrm xmlns:a="http://schemas.openxmlformats.org/drawingml/2006/main">
            <a:off x="4524375" y="1953774"/>
            <a:ext cx="6791325" cy="1816977"/>
          </a:xfrm>
          <a:prstGeom xmlns:a="http://schemas.openxmlformats.org/drawingml/2006/main" prst="roundRect">
            <a:avLst>
              <a:gd name="adj" fmla="val 628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9C99E-9128-440E-B6F6-A110CD2F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83,108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CFE98-9B43-4E21-84DC-127141A9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estimated tUSDC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115C7-3E31-46B3-A023-ED65ABA8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2291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427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10F97-6C1B-4D66-8A08-323F26E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62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claimable markets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02E73-E020-403F-8E61-430D8200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2291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48640-E433-42E0-914F-6A9598E7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7625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live positions</a:t>
            </a:r>
          </a:p>
        </p:txBody>
      </p:sp>
    </p:spTree>
    <p:extLst>
      <p:ext uri="{BB962C8B-B14F-4D97-AF65-F5344CB8AC3E}">
        <p14:creationId xmlns:p14="http://schemas.microsoft.com/office/powerpoint/2010/main" val="1313782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2FCC6-65DA-4673-B82C-72BE4415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Every claim includes a settlement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D93C6-5CC1-456B-B680-F864D7AC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interface connects the payout to the oracle record and resolution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A19E2-F0F8-45CF-8EC0-8860554C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7FA4E-798B-40E0-BE5B-852FC241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0DC28-AAAF-42BC-8A6E-AA0488A7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239000" cy="4095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9525">
            <a:solidFill>
              <a:srgbClr val="2A323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4391988f940e1"/>
          <a:stretch xmlns:a="http://schemas.openxmlformats.org/drawingml/2006/main"/>
        </p:blipFill>
        <p:spPr>
          <a:xfrm xmlns:a="http://schemas.openxmlformats.org/drawingml/2006/main">
            <a:off x="857250" y="1952725"/>
            <a:ext cx="6896100" cy="2685849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85AC7-1F78-45A7-9A3D-D76538C9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649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Resolution evidence shown with each finalized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31E2E-783A-4515-B28E-5C02F961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23336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A323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0186C-EE6B-4B24-8687-A5E2E9A1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Market.id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5A83D-3298-4726-BB8B-7FD16E25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OracleBind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1BFE9-6FB5-4FFC-B0F8-48C8123A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OracleQuestion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7B259-4148-444F-966C-02F8F051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This join produces the numeric question identifier required by the oracle explorer.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7ADA5-5316-4836-941D-7030C65B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911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256-bit identifiers remain strings to prevent precision loss.</a:t>
            </a:r>
          </a:p>
        </p:txBody>
      </p:sp>
    </p:spTree>
    <p:extLst>
      <p:ext uri="{BB962C8B-B14F-4D97-AF65-F5344CB8AC3E}">
        <p14:creationId xmlns:p14="http://schemas.microsoft.com/office/powerpoint/2010/main" val="1802974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97D68-1F5C-4C03-A1F2-86EE2F3E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86% of represented wallets had an indexed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90D20-BE6B-493E-B79A-8C0BE4D6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Dated Shannon testnet snapshot from 2026-09-11. Testnet tUSDC has no customer-dollar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ACF0B-5E74-43AF-95DE-FC4D2A77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4945E-F10D-443F-AA44-D7924EE7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68519-329B-4D95-AAF5-9396677C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13,588,395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2C31D-B7FD-4101-ACF1-68DE908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estimated unclaimed tUSDC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4CA35-7A58-4D16-BB54-734514C1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31,981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16A40-0102-47A4-9B09-61D5E24E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non-zero balance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F7830-B05C-4CB4-8FDD-27EA76E0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p50 0s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2AAA5-C969-4208-87DE-15397CB2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expiry to resolution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000625" y="1952625"/>
          <a:ext xmlns:a="http://schemas.openxmlformats.org/drawingml/2006/main" cx="6381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8aac460df04af6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DE19A-9986-4E77-B872-22F159E1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5787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6,912 of 8,081 represented addresses</a:t>
            </a:r>
          </a:p>
        </p:txBody>
      </p:sp>
    </p:spTree>
    <p:extLst>
      <p:ext uri="{BB962C8B-B14F-4D97-AF65-F5344CB8AC3E}">
        <p14:creationId xmlns:p14="http://schemas.microsoft.com/office/powerpoint/2010/main" val="836869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51EFF-402E-4FB1-BEDA-6451051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Two read paths with limits shown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69624-A731-4C01-BE90-CE46D9E0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product uses each source for the job it can support.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1A6BD-0315-4862-901E-2281F1FC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94DE3-F9A6-48FD-A778-6C30D256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17C64-84F6-4263-87B8-F20F42CB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7334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A323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6AAEA-8597-47CF-9BEC-5C5D8D42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271462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6EA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89EE4-C521-4268-A9B8-919D85D6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Indexer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D3448-F36C-4A83-AFE9-87A33D4D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619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Fast wallet discovery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OutcomeBalance joined to Market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Paginated recovery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F98A7-0692-4869-8A00-703D234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43250" cy="271462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3DDC9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5036C-62D1-4787-97C3-337E91D7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050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Settlement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089AC-32CC-4720-A59B-31E3B69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619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OracleBind resolution join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Payout vector classification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Oracle explorer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4AF9B-39E9-4540-AD92-926C2854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271462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FFC8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E1EFC-82CA-482C-8FED-421C147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050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SDK compatibility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D3224-8C1C-49D4-90D0-BCAE84D0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619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getClaimable candidates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redeemMany payload preview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Public demo stays read-only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326D3-6EC1-46B7-A1A6-D86D820E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SDK v0.30.0 limits its portfolio query to 200 outcome-balance rows. Reclaim labels the result as bounded.</a:t>
            </a:r>
          </a:p>
        </p:txBody>
      </p:sp>
    </p:spTree>
    <p:extLst>
      <p:ext uri="{BB962C8B-B14F-4D97-AF65-F5344CB8AC3E}">
        <p14:creationId xmlns:p14="http://schemas.microsoft.com/office/powerpoint/2010/main" val="934639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CB1BD-71F2-4BD9-A000-7C71527A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96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A visible recovery path for finalized positions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54778-7220-49C3-BCF8-C2ACFDA3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User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BA288-07A6-4182-924F-58A8AC9D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Holders can find indexed winnings that normal live discovery no longer shows.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15EBC-1D1D-480F-8276-A0BFE8FB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Ecosystem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A5145-DD81-4489-9C70-B4165DBF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DreamDEX gains a clearer post-settlement experience and reproducible SDK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070F6-7308-41F6-AB75-D5AF5C50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524375" cy="3333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9525">
            <a:solidFill>
              <a:srgbClr val="2A323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B9329-2895-4BA4-8406-6F92CDCA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288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TRY THE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13E93-42C0-4E89-89C4-58BAB49A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718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dream-dex-reclaim.vercel.app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F7C2A-E3C6-44B6-A2A0-3FA6497F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SOURCE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3384B-60BC-4CD0-A6AA-0FEDCBD5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0055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github.com/sharath2525/DreamDEX-Reclaim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454EF-58CF-4B10-8912-168967BA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000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Somnia Shannon testnet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AFC03-29FC-4A72-9A01-3A2B0FB6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1196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2026-09-11T17:39:38.9350000Z</dcterms:created>
  <dcterms:modified xsi:type="dcterms:W3CDTF">2026-09-11T17:39:38.9350000Z</dcterms:modified>
</coreProperties>
</file>