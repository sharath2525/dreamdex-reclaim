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0265a6e2ff4640" /><Relationship Type="http://schemas.openxmlformats.org/officeDocument/2006/relationships/extended-properties" Target="/docProps/app.xml" Id="R15f09903094345e7" /><Relationship Type="http://schemas.openxmlformats.org/officeDocument/2006/relationships/officeDocument" Target="/ppt/presentation.xml" Id="R07b3eb41d91a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de768785914e4f"/>
  </p:sldMasterIdLst>
  <p:notesMasterIdLst>
    <p:notesMasterId xmlns:r="http://schemas.openxmlformats.org/officeDocument/2006/relationships" r:id="R46595d8eab094cf5"/>
  </p:notesMasterIdLst>
  <p:sldIdLst>
    <p:sldId xmlns:r="http://schemas.openxmlformats.org/officeDocument/2006/relationships" id="256" r:id="R4629ff4adec843c8"/>
    <p:sldId xmlns:r="http://schemas.openxmlformats.org/officeDocument/2006/relationships" id="257" r:id="R8523dfd85b7c4887"/>
    <p:sldId xmlns:r="http://schemas.openxmlformats.org/officeDocument/2006/relationships" id="258" r:id="Raf9befbc38174552"/>
    <p:sldId xmlns:r="http://schemas.openxmlformats.org/officeDocument/2006/relationships" id="259" r:id="R6ea9e43a97b84e96"/>
    <p:sldId xmlns:r="http://schemas.openxmlformats.org/officeDocument/2006/relationships" id="260" r:id="Rd087546d650444f0"/>
    <p:sldId xmlns:r="http://schemas.openxmlformats.org/officeDocument/2006/relationships" id="261" r:id="R2ee57eafd0b14a1b"/>
    <p:sldId xmlns:r="http://schemas.openxmlformats.org/officeDocument/2006/relationships" id="262" r:id="R227672c8ebc945da"/>
    <p:sldId xmlns:r="http://schemas.openxmlformats.org/officeDocument/2006/relationships" id="263" r:id="R89c08ae8ec5644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bb827e2daa4b06" /><Relationship Type="http://schemas.openxmlformats.org/officeDocument/2006/relationships/slideMaster" Target="/ppt/slideMasters/slideMaster1.xml" Id="R49de768785914e4f" /><Relationship Type="http://schemas.openxmlformats.org/officeDocument/2006/relationships/notesMaster" Target="/ppt/notesMasters/notesMaster1.xml" Id="R46595d8eab094cf5" /><Relationship Type="http://schemas.openxmlformats.org/officeDocument/2006/relationships/presProps" Target="/ppt/presProps.xml" Id="R89d1992817e040cc" /><Relationship Type="http://schemas.openxmlformats.org/officeDocument/2006/relationships/tableStyles" Target="/ppt/tableStyles.xml" Id="R546c6f54151b450a" /><Relationship Type="http://schemas.openxmlformats.org/officeDocument/2006/relationships/slide" Target="/ppt/slides/slide1.xml" Id="R4629ff4adec843c8" /><Relationship Type="http://schemas.openxmlformats.org/officeDocument/2006/relationships/slide" Target="/ppt/slides/slide2.xml" Id="R8523dfd85b7c4887" /><Relationship Type="http://schemas.openxmlformats.org/officeDocument/2006/relationships/slide" Target="/ppt/slides/slide3.xml" Id="Raf9befbc38174552" /><Relationship Type="http://schemas.openxmlformats.org/officeDocument/2006/relationships/slide" Target="/ppt/slides/slide4.xml" Id="R6ea9e43a97b84e96" /><Relationship Type="http://schemas.openxmlformats.org/officeDocument/2006/relationships/slide" Target="/ppt/slides/slide5.xml" Id="Rd087546d650444f0" /><Relationship Type="http://schemas.openxmlformats.org/officeDocument/2006/relationships/slide" Target="/ppt/slides/slide6.xml" Id="R2ee57eafd0b14a1b" /><Relationship Type="http://schemas.openxmlformats.org/officeDocument/2006/relationships/slide" Target="/ppt/slides/slide7.xml" Id="R227672c8ebc945da" /><Relationship Type="http://schemas.openxmlformats.org/officeDocument/2006/relationships/slide" Target="/ppt/slides/slide8.xml" Id="R89c08ae8ec5644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a32c8171c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fe26527374335" /><Relationship Type="http://schemas.openxmlformats.org/officeDocument/2006/relationships/notesMaster" Target="/ppt/notesMasters/notesMaster1.xml" Id="R614a0ebb97c0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6e9fc0ea3541bf" /><Relationship Type="http://schemas.openxmlformats.org/officeDocument/2006/relationships/notesMaster" Target="/ppt/notesMasters/notesMaster1.xml" Id="R20a6672c9f8b45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286b2643544be0" /><Relationship Type="http://schemas.openxmlformats.org/officeDocument/2006/relationships/notesMaster" Target="/ppt/notesMasters/notesMaster1.xml" Id="Rd86e80cf54ce45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edaf76d96b4c00" /><Relationship Type="http://schemas.openxmlformats.org/officeDocument/2006/relationships/notesMaster" Target="/ppt/notesMasters/notesMaster1.xml" Id="R59ab0b9e2ffd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66c1b676f140d3" /><Relationship Type="http://schemas.openxmlformats.org/officeDocument/2006/relationships/notesMaster" Target="/ppt/notesMasters/notesMaster1.xml" Id="R24fb25757fae42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7b07d4fab4441c" /><Relationship Type="http://schemas.openxmlformats.org/officeDocument/2006/relationships/notesMaster" Target="/ppt/notesMasters/notesMaster1.xml" Id="Rc01dc9df197b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0b8622ff854fb6" /><Relationship Type="http://schemas.openxmlformats.org/officeDocument/2006/relationships/notesMaster" Target="/ppt/notesMasters/notesMaster1.xml" Id="R10f37018312f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3fb6da0b904a9c" /><Relationship Type="http://schemas.openxmlformats.org/officeDocument/2006/relationships/notesMaster" Target="/ppt/notesMasters/notesMaster1.xml" Id="R17e4ae2db8c8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DreamDEX Reclaim repository and public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dreamDEX Event Contracts recipes and gotchas. https://app.dreamdex.io/docs/developers/event-contracts/recipes and https://app.dreamdex.io/docs/developers/event-contracts/gotchas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DreamDEX Reclaim application using the demo address 0xfe7250509634abb94b3cdbd72eb122feccac157c.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DreamDEX Reclaim application. Values reflect changing Shannon testnet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DreamDEX Reclaim SDK feedback report and dreamDEX settlement documentation. https://app.dreamdex.io/docs/trading/event-contracts/settlement-and-voids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DreamDEX Reclaim network scan snapshot captured on 2026-09-11. Figures describe Shannon testnet state and change over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inspected @somnia-chain/markets-sdk v0.30.0 behavior documented in docs/SDK-FEEDBACK.md. The compatibility path is not presented as independent on-chain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URL: https://dream-dex-reclaim.vercel.app/  Repository: https://github.com/sharath2525/DreamDEX-Reclaim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a185d41a7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a5541654f4b37" /><Relationship Type="http://schemas.openxmlformats.org/officeDocument/2006/relationships/slideLayout" Target="/ppt/slideLayouts/slideLayout1.xml" Id="R746050009f744e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6050009f744e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504af33c5403f" /><Relationship Type="http://schemas.openxmlformats.org/officeDocument/2006/relationships/image" Target="/ppt/media/image.png" Id="Rec108453c49c4ab7" /><Relationship Type="http://schemas.openxmlformats.org/officeDocument/2006/relationships/notesSlide" Target="/ppt/notesSlides/notesSlide1.xml" Id="R594a73de7ed3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f15e4d6a4404a" /><Relationship Type="http://schemas.openxmlformats.org/officeDocument/2006/relationships/notesSlide" Target="/ppt/notesSlides/notesSlide2.xml" Id="Re7f115d614bb4d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9685ce5b4588" /><Relationship Type="http://schemas.openxmlformats.org/officeDocument/2006/relationships/image" Target="/ppt/media/image2.png" Id="R2bd6d455735b4de0" /><Relationship Type="http://schemas.openxmlformats.org/officeDocument/2006/relationships/notesSlide" Target="/ppt/notesSlides/notesSlide3.xml" Id="R2e55f5e4872847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aeac609b7466e" /><Relationship Type="http://schemas.openxmlformats.org/officeDocument/2006/relationships/image" Target="/ppt/media/image3.png" Id="R57b5507c1d454502" /><Relationship Type="http://schemas.openxmlformats.org/officeDocument/2006/relationships/notesSlide" Target="/ppt/notesSlides/notesSlide4.xml" Id="R9d3be20c64ca41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8b9b857394164" /><Relationship Type="http://schemas.openxmlformats.org/officeDocument/2006/relationships/image" Target="/ppt/media/image4.png" Id="Ref85dff2eb7d4940" /><Relationship Type="http://schemas.openxmlformats.org/officeDocument/2006/relationships/notesSlide" Target="/ppt/notesSlides/notesSlide5.xml" Id="R501b3a28950e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7ef63aa974acf" /><Relationship Type="http://schemas.openxmlformats.org/officeDocument/2006/relationships/chart" Target="/ppt/slides/charts/chart1.xml" Id="Rd7a9dc6b0c00441c" /><Relationship Type="http://schemas.openxmlformats.org/officeDocument/2006/relationships/notesSlide" Target="/ppt/notesSlides/notesSlide6.xml" Id="Ra8f0701d0dd743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1a01edd334867" /><Relationship Type="http://schemas.openxmlformats.org/officeDocument/2006/relationships/notesSlide" Target="/ppt/notesSlides/notesSlide7.xml" Id="R12681fb1319f4d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e8310a8794ce7" /><Relationship Type="http://schemas.openxmlformats.org/officeDocument/2006/relationships/notesSlide" Target="/ppt/notesSlides/notesSlide8.xml" Id="Re0be25e03ad24e5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Wallets</c:v>
          </c:tx>
          <c:dPt>
            <c:idx val="0"/>
            <c:invertIfNegative val="0"/>
            <c:spPr>
              <a:solidFill xmlns:a="http://schemas.openxmlformats.org/drawingml/2006/main">
                <a:srgbClr val="FFC86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A323F"/>
              </a:solidFill>
            </c:spPr>
          </c:dPt>
          <c:cat>
            <c:strLit>
              <c:ptCount val="2"/>
              <c:pt idx="0">
                <c:v>Wallets with indexed claims</c:v>
              </c:pt>
              <c:pt idx="1">
                <c:v>Other represented wallets</c:v>
              </c:pt>
            </c:strLit>
          </c:cat>
          <c:val>
            <c:numLit>
              <c:formatCode>General</c:formatCode>
              <c:ptCount val="2"/>
              <c:pt idx="0">
                <c:v>6912</c:v>
              </c:pt>
              <c:pt idx="1">
                <c:v>1169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E8ECF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090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90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08453c49c4ab7"/>
          <a:stretch xmlns:a="http://schemas.openxmlformats.org/drawingml/2006/main"/>
        </p:blipFill>
        <p:spPr>
          <a:xfrm xmlns:a="http://schemas.openxmlformats.org/drawingml/2006/main">
            <a:off x="876300" y="952500"/>
            <a:ext cx="1123950" cy="1123950"/>
          </a:xfrm>
          <a:prstGeom xmlns:a="http://schemas.openxmlformats.org/drawingml/2006/main" prst="roundRect">
            <a:avLst>
              <a:gd name="adj" fmla="val 2372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7E830-E6DF-4DBD-BAE0-E2B688F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7F8A3-226B-4F26-B36F-7EA4CDC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C861"/>
                </a:solidFill>
                <a:latin typeface="Aptos"/>
                <a:ea typeface="Aptos"/>
                <a:cs typeface="Aptos"/>
              </a:rPr>
              <a:t>Settlement recovery and oracle auditing for DreamDEX Event Contracts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5A35F-B220-421F-94CB-3B213AE2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Somnia × DreamDEX Event Contracts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B499C-B81D-4E0A-B238-CE701BB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Read-only public demo on Somnia Shannon testnet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E923F-5EF6-4A67-B07B-5C97FC8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6155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F9BFF-3E50-42A9-8620-8968AB2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Winning positions can disappear from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494A7-4E32-4383-9867-1886E4E1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live-market experience ends before every holder completes the settlement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1931-8F3F-4471-8859-1D44B49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E29D4-5C97-4AB9-93C5-B200F91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E424B-FD9F-4605-8FEC-BBE5EBF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90875"/>
            <a:ext cx="7524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A323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1830B-ADE0-4937-BFA5-28773309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857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6EA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617BD-67D4-4891-BAAE-415FCF40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68365-DA96-496D-925D-F28CBD2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86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Market trades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365CD-B728-4148-B8CA-775FC899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position appears in the live Event Contract 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A27CD-F6D5-43B0-8736-46FB2FA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857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FFC86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8507B-0B59-4C7C-BA99-F71CCBF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003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CEAB7-E7B3-4118-AD69-894FE4E1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86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Market finalizes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DCAF6-1FFB-47D6-8CD9-0A4FA0D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67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finalized binary leaves normal live discovery.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8589B-1E18-43D1-9202-45909AA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857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3DDC9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E9589-F571-4E56-B01A-CE71928A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03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4B9DE-BA23-4DE5-A13B-1F401A7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86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Winning tokens remain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BA6AE-E26C-4B32-A68B-F973D409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A holder can still have redeemable outcome tokens.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3609B-DBF9-4165-93D1-2DB1D78A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86375"/>
            <a:ext cx="902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The missing product surface: post-settlement discovery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706034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DE612-826B-48BB-B169-9F4A1E4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One address opens the recovery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255C3-3123-4525-9478-B3075976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No wallet connection, authentication, or signature is required for discovery.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DEFC9-F9BB-4B4C-B3CD-573F113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7D353-BB49-4D5C-9BD9-502B56C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6d455735b4de0"/>
          <a:srcRect xmlns:a="http://schemas.openxmlformats.org/drawingml/2006/main" l="0" t="4146" r="0" b="4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78105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D739F-DA7E-4F23-96BA-17BD077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Address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0A584-5CE9-447D-B5B9-3BBD495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57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Scan any Somnia address and classify its indexed outcome-token positions.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D5554-9EFC-4814-B2E7-63D9A7C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Immediate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46CBF-0898-4A5D-A050-8ED7CEF1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814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first screen shows a dated network snapshot while live scans run independently.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1B1DB-FA4D-4F07-8052-F0E6853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Share or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09554-D62C-4989-84BE-33D9C41C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95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Create a direct wallet URL or download a structured recovery report.</a:t>
            </a:r>
          </a:p>
        </p:txBody>
      </p:sp>
    </p:spTree>
    <p:extLst>
      <p:ext uri="{BB962C8B-B14F-4D97-AF65-F5344CB8AC3E}">
        <p14:creationId xmlns:p14="http://schemas.microsoft.com/office/powerpoint/2010/main" val="171148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27D3C-0478-4FFD-8FE2-3B8F115D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The wallet view separates every settlement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1A073-DC1E-4410-BC7B-A6654675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A non-zero outcome-token balance does not automatically mean a winning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B13D6-4166-41C6-A7D8-C457A6D5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7E9FA-90AD-4216-997B-3F92D55E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CDBC4-2661-4898-BAB8-C1589B01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UNCLAIMED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E07EF-2F86-42E3-91FE-A440172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Finalized positions with a non-zero payout, ranked by estimated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09108-99A7-41D4-BB9A-28FF64EE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LIVE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445B4-1C34-4AF9-A31D-B4F922D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Positions in markets that remain open for trading.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BBE43-CEEA-4487-B450-9F40EEB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REDEMPTION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00092-3DD7-4B17-98C6-DF162A5E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Completed collections stay separate from balances that may still need action.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5507c1d454502"/>
          <a:srcRect xmlns:a="http://schemas.openxmlformats.org/drawingml/2006/main" l="27364" t="0" r="27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714500"/>
            <a:ext cx="7172325" cy="4238625"/>
          </a:xfrm>
          <a:prstGeom xmlns:a="http://schemas.openxmlformats.org/drawingml/2006/main" prst="roundRect">
            <a:avLst>
              <a:gd name="adj" fmla="val 4045"/>
            </a:avLst>
          </a:prstGeom>
        </p:spPr>
      </p:pic>
    </p:spTree>
    <p:extLst>
      <p:ext uri="{BB962C8B-B14F-4D97-AF65-F5344CB8AC3E}">
        <p14:creationId xmlns:p14="http://schemas.microsoft.com/office/powerpoint/2010/main" val="777337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73E23-8F31-46F2-9CD5-E6B7337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Every claim includes a settlement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35C5E-D7D8-4A49-9A20-9B6DC079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interface connects the payout to the oracle record and resolution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1641B-1E1A-4D2E-A6CE-377BE9EE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FBC86-8C6E-4C18-93F5-0FDF791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5dff2eb7d4940"/>
          <a:srcRect xmlns:a="http://schemas.openxmlformats.org/drawingml/2006/main" l="15581" t="0" r="15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72390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28572-7F8D-46B1-83B4-41A243F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333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A323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B8872-6D30-4882-9A55-36B34143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Market.id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540A2-0549-407A-A675-C42BB6A4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OracleBind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B321B-9830-4486-9F4E-6A474DA4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OracleQuestion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EAE88-8402-4252-A378-47BD8A1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This join produces the numeric question identifier required by the oracle explorer.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04798-BA88-4EFF-9A10-F7E74DD0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256-bit identifiers remain strings to prevent precision loss.</a:t>
            </a:r>
          </a:p>
        </p:txBody>
      </p:sp>
    </p:spTree>
    <p:extLst>
      <p:ext uri="{BB962C8B-B14F-4D97-AF65-F5344CB8AC3E}">
        <p14:creationId xmlns:p14="http://schemas.microsoft.com/office/powerpoint/2010/main" val="664569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6B4FF-B606-4646-A17C-5607BB8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86% of represented wallets had an indexed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D85A6-182A-4787-B46A-7C03992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Dated Shannon testnet snapshot from 2026-09-11. Testnet tUSDC has no customer-dollar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BD05B-4EC2-4E45-AFF9-90448C5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46D65-ED99-4F03-B7CF-170F8D2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B1DC6-198A-45EE-8BAD-5736947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13,588,395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593FA-E42E-4956-91E8-EDA5F85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estimated unclaimed tUSDC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E994A-A63A-45C0-B869-F8CFFE7C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31,981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A6C60-2F97-4B84-BEBD-B2798392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non-zero balance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6F735-AFE6-4C27-BCD0-7ED23902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p50 0s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A20FD-1ACC-435F-A6EF-08F764D2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expiry to resolution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000625" y="1952625"/>
          <a:ext xmlns:a="http://schemas.openxmlformats.org/drawingml/2006/main" cx="638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a9dc6b0c00441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8A731-151E-4D43-8129-531F44A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578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6,912 of 8,081 represented addresses</a:t>
            </a:r>
          </a:p>
        </p:txBody>
      </p:sp>
    </p:spTree>
    <p:extLst>
      <p:ext uri="{BB962C8B-B14F-4D97-AF65-F5344CB8AC3E}">
        <p14:creationId xmlns:p14="http://schemas.microsoft.com/office/powerpoint/2010/main" val="1189464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09BA2-5B47-49E2-A6C7-1186801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Two read paths with limits shown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AD03B-C16E-41AC-A914-D31A6D3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96A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96A8"/>
                </a:solidFill>
                <a:latin typeface="Aptos"/>
                <a:ea typeface="Aptos"/>
                <a:cs typeface="Aptos"/>
              </a:rPr>
              <a:t>The product uses each source for the job it can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397DA-E04E-4EFF-9A64-E5B25360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DreamDEX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12D7A-2FFD-4B0B-A8E6-D22316F5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910B7-4DEF-4010-A33D-6C179454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7334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A323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8E38F-28C7-4399-884D-ADA2958F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6EA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0BE35-0C7D-48A7-9E5E-4158F354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Indexer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6E4A-C1E5-4A83-8451-27273D6A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619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Fast wallet discovery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OutcomeBalance joined to Market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Paginated recovery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366C8-CBEF-4754-AACD-4074555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3DDC9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7577B-0A73-4FB5-AF6E-04248177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050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Settlement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B8C96-D7C2-4440-AD8F-3036F99C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619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OracleBind resolution join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Payout vector classification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Oracle explorer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BB530-8C24-4C6D-9858-032ADE4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19050">
            <a:solidFill>
              <a:srgbClr val="FFC8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63849-832E-413F-82D4-AF69D026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SDK compatibility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EFB89-E971-485D-A529-06D44CB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619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getClaimable candidates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redeemMany payload preview</a:t>
            </a:r>
          </a:p>
          <a:p xmlns:a="http://schemas.openxmlformats.org/drawingml/2006/main">
            <a:pPr algn="l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Public demo stays read-only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60062-AFFB-455C-8DB1-39F27BF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SDK v0.30.0 limits its portfolio query to 200 outcome-balance rows. Reclaim labels the result as bounded.</a:t>
            </a:r>
          </a:p>
        </p:txBody>
      </p:sp>
    </p:spTree>
    <p:extLst>
      <p:ext uri="{BB962C8B-B14F-4D97-AF65-F5344CB8AC3E}">
        <p14:creationId xmlns:p14="http://schemas.microsoft.com/office/powerpoint/2010/main" val="736206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2A2D9-610C-4AB0-AAD5-3D9142F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96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A visible recovery path for finalized positions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4E1A5-560D-4D9C-B615-19C732CB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User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A786F-FA89-4349-B126-3F542D6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Holders can find indexed winnings that normal live discovery no longer shows.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444C0-71DB-4F21-855B-3BA2515E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Ecosystem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8EDC2-0AC9-4F7F-8A12-4B945532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DreamDEX gains a clearer post-settlement experience and reproducible SDK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16A3B-13C6-440A-8239-3E19F169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524375" cy="3333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9525">
            <a:solidFill>
              <a:srgbClr val="2A323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317EB-CAC7-446E-9639-980176A0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TRY THE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72513-CA35-440C-8707-9B9BE9A8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718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8ECF2"/>
                </a:solidFill>
                <a:latin typeface="Aptos"/>
                <a:ea typeface="Aptos"/>
                <a:cs typeface="Aptos"/>
              </a:rPr>
              <a:t>dream-dex-reclaim.vercel.app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48F8D-C679-4DF5-9236-FFB0BE3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8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861"/>
                </a:solidFill>
                <a:latin typeface="Aptos"/>
                <a:ea typeface="Aptos"/>
                <a:cs typeface="Aptos"/>
              </a:rPr>
              <a:t>SOURCE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2E88B-CED5-4175-8CB6-01C787A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005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8EC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ECF2"/>
                </a:solidFill>
                <a:latin typeface="Aptos"/>
                <a:ea typeface="Aptos"/>
                <a:cs typeface="Aptos"/>
              </a:rPr>
              <a:t>github.com/sharath2525/DreamDEX-Reclaim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5D60E-C8BE-4AEE-9B57-2BB8B498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A7D"/>
                </a:solidFill>
                <a:latin typeface="Aptos"/>
                <a:ea typeface="Aptos"/>
                <a:cs typeface="Aptos"/>
              </a:rPr>
              <a:t>Somnia Shannon testnet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B4E62-24CB-4B6B-841A-3BDF725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A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3592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2026-09-11T17:35:02.1560000Z</dcterms:created>
  <dcterms:modified xsi:type="dcterms:W3CDTF">2026-09-11T17:35:02.1560000Z</dcterms:modified>
</coreProperties>
</file>